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media/image2.jpg" ContentType="image/jpeg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9" r:id="rId9"/>
    <p:sldId id="270" r:id="rId10"/>
    <p:sldId id="271" r:id="rId11"/>
    <p:sldId id="272" r:id="rId12"/>
    <p:sldId id="273" r:id="rId13"/>
    <p:sldId id="274" r:id="rId14"/>
    <p:sldId id="275" r:id="rId15"/>
    <p:sldId id="264" r:id="rId16"/>
    <p:sldId id="265" r:id="rId17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5621" autoAdjust="0"/>
  </p:normalViewPr>
  <p:slideViewPr>
    <p:cSldViewPr>
      <p:cViewPr varScale="1">
        <p:scale>
          <a:sx n="93" d="100"/>
          <a:sy n="93" d="100"/>
        </p:scale>
        <p:origin x="1162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CEB681-3986-45ED-9F66-F6CE838FEC38}" type="datetimeFigureOut">
              <a:rPr lang="en-IN" smtClean="0"/>
              <a:t>15-04-2025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6CB4EA-4E74-4D78-BD82-36670B8404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5749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6CB4EA-4E74-4D78-BD82-36670B8404DC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75066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4/15/2025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4/15/2025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4/15/2025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215025" y="137875"/>
            <a:ext cx="1733549" cy="58102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4725" y="505248"/>
            <a:ext cx="8374549" cy="4095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01875" y="1365799"/>
            <a:ext cx="8148955" cy="29959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14475" y="361950"/>
            <a:ext cx="6115050" cy="817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200" dirty="0"/>
              <a:t>OBE</a:t>
            </a:r>
            <a:r>
              <a:rPr sz="5200" spc="-30" dirty="0"/>
              <a:t> </a:t>
            </a:r>
            <a:r>
              <a:rPr sz="5200" spc="-10" dirty="0"/>
              <a:t>Implementation</a:t>
            </a:r>
            <a:endParaRPr sz="5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1D07C9-7125-15DF-11F5-5B5D7C41589F}"/>
              </a:ext>
            </a:extLst>
          </p:cNvPr>
          <p:cNvSpPr txBox="1"/>
          <p:nvPr/>
        </p:nvSpPr>
        <p:spPr>
          <a:xfrm>
            <a:off x="1905001" y="1276350"/>
            <a:ext cx="533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PROGRAM LEVEL OBJECTIVE SETTING</a:t>
            </a:r>
            <a:endParaRPr lang="en-US" sz="2200" dirty="0">
              <a:latin typeface="Arial MT"/>
              <a:cs typeface="Arial M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373EC9-789F-A599-1C53-0036F3C48AA4}"/>
              </a:ext>
            </a:extLst>
          </p:cNvPr>
          <p:cNvSpPr txBox="1"/>
          <p:nvPr/>
        </p:nvSpPr>
        <p:spPr>
          <a:xfrm>
            <a:off x="4267200" y="3433690"/>
            <a:ext cx="48006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b="1" dirty="0">
                <a:solidFill>
                  <a:schemeClr val="tx1"/>
                </a:solidFill>
              </a:rPr>
              <a:t>SUBMITTED BY:</a:t>
            </a:r>
            <a:endParaRPr lang="en-IN" dirty="0"/>
          </a:p>
          <a:p>
            <a:r>
              <a:rPr lang="en-IN" dirty="0"/>
              <a:t>Thalakola Nikhil Sireesh	(AP22110010009)</a:t>
            </a:r>
          </a:p>
          <a:p>
            <a:r>
              <a:rPr lang="en-IN" dirty="0"/>
              <a:t>Shaik Mansoor Mujahid	(AP22110010019)</a:t>
            </a:r>
          </a:p>
          <a:p>
            <a:r>
              <a:rPr lang="en-IN" dirty="0"/>
              <a:t>Shaik Nagur Meeravalli	(AP22110010061)</a:t>
            </a:r>
          </a:p>
          <a:p>
            <a:r>
              <a:rPr lang="en-IN" dirty="0"/>
              <a:t>Ram Gopal Mukhamatam	(AP22110010063)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Introduction</a:t>
            </a:r>
            <a:r>
              <a:rPr spc="-30" dirty="0"/>
              <a:t> </a:t>
            </a:r>
            <a:r>
              <a:rPr dirty="0"/>
              <a:t>to</a:t>
            </a:r>
            <a:r>
              <a:rPr spc="-30" dirty="0"/>
              <a:t> </a:t>
            </a:r>
            <a:r>
              <a:rPr spc="-10" dirty="0"/>
              <a:t>Project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175208"/>
            <a:ext cx="8027670" cy="33891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l"/>
            <a:r>
              <a:rPr lang="en-IN" sz="16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SRM University - AP is adopting OBE (Outcome Based Education). As part of this initiative, our team has been assigned the task of developing a Windows and Mobile Application using Java. The application supports CRUD (Create, Retrieve, Update, Delete) operations to manage and monitor OBE implementation data effectively. </a:t>
            </a:r>
          </a:p>
          <a:p>
            <a:pPr algn="l"/>
            <a:endParaRPr lang="en-IN" sz="1600" b="0" i="0" u="none" strike="noStrike" baseline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IN" b="1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Project Modules:</a:t>
            </a:r>
          </a:p>
          <a:p>
            <a:pPr algn="l"/>
            <a:r>
              <a:rPr lang="en-US" sz="16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Various Modules available in the project are</a:t>
            </a:r>
          </a:p>
          <a:p>
            <a:pPr algn="l">
              <a:lnSpc>
                <a:spcPct val="150000"/>
              </a:lnSpc>
            </a:pPr>
            <a:r>
              <a:rPr lang="en-IN" sz="16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4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1. Blooms Level setting	</a:t>
            </a: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2. </a:t>
            </a:r>
            <a:r>
              <a:rPr lang="en-US" sz="1400" b="1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Program Level Objective Setting</a:t>
            </a:r>
            <a:r>
              <a:rPr lang="en-US" sz="14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	3. </a:t>
            </a:r>
            <a:r>
              <a:rPr lang="en-IN" sz="14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University</a:t>
            </a:r>
          </a:p>
          <a:p>
            <a:pPr algn="l">
              <a:lnSpc>
                <a:spcPct val="150000"/>
              </a:lnSpc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4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4. Schools			5. Department			6. Programs</a:t>
            </a:r>
          </a:p>
          <a:p>
            <a:pPr algn="l">
              <a:lnSpc>
                <a:spcPct val="150000"/>
              </a:lnSpc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4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7. Courses			8. Course objective setting	</a:t>
            </a:r>
          </a:p>
          <a:p>
            <a:pPr algn="l">
              <a:lnSpc>
                <a:spcPct val="150000"/>
              </a:lnSpc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4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9. Course Outcome Setting	</a:t>
            </a:r>
            <a:r>
              <a:rPr lang="fr-FR" sz="14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10. Course Articulation matrix Setting	</a:t>
            </a:r>
          </a:p>
          <a:p>
            <a:pPr algn="l">
              <a:lnSpc>
                <a:spcPct val="150000"/>
              </a:lnSpc>
            </a:pPr>
            <a:r>
              <a:rPr lang="fr-FR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4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11. Course Utilization Setting	12. Course Reference Setting.</a:t>
            </a:r>
            <a:endParaRPr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Architecture</a:t>
            </a:r>
            <a:r>
              <a:rPr spc="-5" dirty="0"/>
              <a:t> </a:t>
            </a:r>
            <a:r>
              <a:rPr dirty="0"/>
              <a:t>Diagram</a:t>
            </a:r>
            <a:endParaRPr sz="13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FECA61-7B5D-E579-1067-A9F6263B086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8199" y="914823"/>
            <a:ext cx="7467600" cy="3733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Module</a:t>
            </a:r>
            <a:r>
              <a:rPr spc="-30" dirty="0"/>
              <a:t> </a:t>
            </a:r>
            <a:r>
              <a:rPr dirty="0"/>
              <a:t>Description</a:t>
            </a:r>
            <a:r>
              <a:rPr spc="-20" dirty="0"/>
              <a:t> </a:t>
            </a:r>
            <a:r>
              <a:rPr dirty="0"/>
              <a:t>:</a:t>
            </a:r>
            <a:r>
              <a:rPr spc="-20" dirty="0"/>
              <a:t> </a:t>
            </a:r>
            <a:r>
              <a:rPr lang="en-IN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Program Level Objective (PLO) Setting Module </a:t>
            </a:r>
            <a:endParaRPr spc="-1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75BE6D-393D-E68F-1B4A-3D9D1EAE77FA}"/>
              </a:ext>
            </a:extLst>
          </p:cNvPr>
          <p:cNvSpPr txBox="1"/>
          <p:nvPr/>
        </p:nvSpPr>
        <p:spPr>
          <a:xfrm>
            <a:off x="304800" y="1123950"/>
            <a:ext cx="8610600" cy="34676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350" marR="29845" indent="-6350" algn="just">
              <a:spcAft>
                <a:spcPts val="1705"/>
              </a:spcAft>
              <a:buNone/>
            </a:pPr>
            <a:r>
              <a:rPr lang="en-IN" sz="16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This module is designed to perform CRUD operations on Program Level Objectives. Users can create, edit, view, and delete program objectives using Windows. The data is stored in a relational database (e.g., SQLite/MySQL) for persistence. </a:t>
            </a:r>
          </a:p>
          <a:p>
            <a:pPr marL="6350" marR="29845" indent="-6350" algn="just">
              <a:spcAft>
                <a:spcPts val="1705"/>
              </a:spcAft>
              <a:buNone/>
            </a:pPr>
            <a:r>
              <a:rPr lang="en-IN" sz="1600" b="1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Programming Details naming conventions to be used: </a:t>
            </a:r>
          </a:p>
          <a:p>
            <a:pPr marL="211455" marR="161925" indent="-6350">
              <a:spcAft>
                <a:spcPts val="25"/>
              </a:spcAft>
              <a:buNone/>
            </a:pPr>
            <a:r>
              <a:rPr lang="en-IN" sz="1600" b="1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● class name/activity name: </a:t>
            </a:r>
            <a:r>
              <a:rPr lang="en-IN" sz="16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teamplo_program_level_objective_setting   </a:t>
            </a:r>
          </a:p>
          <a:p>
            <a:pPr marL="211455" marR="161925" indent="-6350">
              <a:spcAft>
                <a:spcPts val="25"/>
              </a:spcAft>
              <a:buNone/>
            </a:pPr>
            <a:r>
              <a:rPr lang="en-IN" sz="16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                </a:t>
            </a:r>
          </a:p>
          <a:p>
            <a:pPr marL="211455" marR="161925" indent="-6350">
              <a:spcAft>
                <a:spcPts val="25"/>
              </a:spcAft>
              <a:buNone/>
            </a:pPr>
            <a:r>
              <a:rPr lang="en-IN" sz="16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●</a:t>
            </a:r>
            <a:r>
              <a:rPr lang="en-IN" sz="1600" b="1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Function/method name</a:t>
            </a:r>
            <a:r>
              <a:rPr lang="en-IN" sz="1600" b="1" kern="1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</a:t>
            </a:r>
            <a:endParaRPr lang="en-IN" sz="1600" kern="100" dirty="0">
              <a:solidFill>
                <a:srgbClr val="00000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650875" marR="29845" indent="-6350" algn="just">
              <a:spcAft>
                <a:spcPts val="640"/>
              </a:spcAft>
              <a:buNone/>
            </a:pPr>
            <a:r>
              <a:rPr lang="en-IN" sz="16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○ Create: </a:t>
            </a:r>
            <a:r>
              <a:rPr lang="en-IN" sz="1600" kern="1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TeamPLO_plo_create</a:t>
            </a:r>
            <a:r>
              <a:rPr lang="en-IN" sz="16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() 	</a:t>
            </a:r>
          </a:p>
          <a:p>
            <a:pPr marL="650875" marR="29845" indent="-6350" algn="just">
              <a:spcAft>
                <a:spcPts val="640"/>
              </a:spcAft>
              <a:buNone/>
            </a:pPr>
            <a:r>
              <a:rPr lang="en-IN" sz="16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○ Update: TeamPLO_plo_update() </a:t>
            </a:r>
          </a:p>
          <a:p>
            <a:pPr marL="650875" marR="29845" indent="-6350" algn="just">
              <a:spcAft>
                <a:spcPts val="640"/>
              </a:spcAft>
              <a:buNone/>
            </a:pPr>
            <a:r>
              <a:rPr lang="en-IN" sz="16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○ Retrieve: </a:t>
            </a:r>
            <a:r>
              <a:rPr lang="en-IN" sz="1600" kern="1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TeamPLO_plo_retrieve</a:t>
            </a:r>
            <a:r>
              <a:rPr lang="en-IN" sz="16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() 	</a:t>
            </a:r>
          </a:p>
          <a:p>
            <a:pPr marL="650875" marR="29845" indent="-6350" algn="just">
              <a:spcAft>
                <a:spcPts val="640"/>
              </a:spcAft>
              <a:buNone/>
            </a:pPr>
            <a:r>
              <a:rPr lang="en-IN" sz="16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○ Delete: </a:t>
            </a:r>
            <a:r>
              <a:rPr lang="en-IN" sz="1600" kern="1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TeamPLO_plo_delete</a:t>
            </a:r>
            <a:r>
              <a:rPr lang="en-IN" sz="16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()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604799"/>
            <a:ext cx="8374549" cy="353943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IN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Program Level Objective (PLO) Setting Module </a:t>
            </a:r>
            <a:r>
              <a:rPr sz="2200" dirty="0"/>
              <a:t>:Field/table</a:t>
            </a:r>
            <a:r>
              <a:rPr sz="2200" spc="-45" dirty="0"/>
              <a:t> </a:t>
            </a:r>
            <a:r>
              <a:rPr sz="2200" spc="-10" dirty="0"/>
              <a:t>details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3D72269-B3F7-BFDD-6511-ED0E7AAC68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4476029"/>
              </p:ext>
            </p:extLst>
          </p:nvPr>
        </p:nvGraphicFramePr>
        <p:xfrm>
          <a:off x="838200" y="1200150"/>
          <a:ext cx="7467600" cy="34290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732337">
                  <a:extLst>
                    <a:ext uri="{9D8B030D-6E8A-4147-A177-3AD203B41FA5}">
                      <a16:colId xmlns:a16="http://schemas.microsoft.com/office/drawing/2014/main" val="1320792505"/>
                    </a:ext>
                  </a:extLst>
                </a:gridCol>
                <a:gridCol w="3735263">
                  <a:extLst>
                    <a:ext uri="{9D8B030D-6E8A-4147-A177-3AD203B41FA5}">
                      <a16:colId xmlns:a16="http://schemas.microsoft.com/office/drawing/2014/main" val="2120006030"/>
                    </a:ext>
                  </a:extLst>
                </a:gridCol>
              </a:tblGrid>
              <a:tr h="570265">
                <a:tc>
                  <a:txBody>
                    <a:bodyPr/>
                    <a:lstStyle/>
                    <a:p>
                      <a:pPr marL="1270" marR="45085" indent="-6350">
                        <a:lnSpc>
                          <a:spcPct val="107000"/>
                        </a:lnSpc>
                        <a:spcAft>
                          <a:spcPts val="25"/>
                        </a:spcAft>
                        <a:buNone/>
                      </a:pPr>
                      <a:r>
                        <a:rPr lang="en-IN" sz="1800" kern="100" dirty="0">
                          <a:effectLst/>
                        </a:rPr>
                        <a:t>Field Name </a:t>
                      </a:r>
                      <a:endParaRPr lang="en-IN" sz="18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865" marR="73025" marT="42545" marB="0"/>
                </a:tc>
                <a:tc>
                  <a:txBody>
                    <a:bodyPr/>
                    <a:lstStyle/>
                    <a:p>
                      <a:pPr marL="1270" marR="45085" indent="-6350">
                        <a:lnSpc>
                          <a:spcPct val="107000"/>
                        </a:lnSpc>
                        <a:spcAft>
                          <a:spcPts val="25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Data Type </a:t>
                      </a:r>
                      <a:endParaRPr lang="en-IN" sz="18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865" marR="73025" marT="42545" marB="0"/>
                </a:tc>
                <a:extLst>
                  <a:ext uri="{0D108BD9-81ED-4DB2-BD59-A6C34878D82A}">
                    <a16:rowId xmlns:a16="http://schemas.microsoft.com/office/drawing/2014/main" val="3068175762"/>
                  </a:ext>
                </a:extLst>
              </a:tr>
              <a:tr h="572735">
                <a:tc>
                  <a:txBody>
                    <a:bodyPr/>
                    <a:lstStyle/>
                    <a:p>
                      <a:pPr marL="1270" marR="45085" indent="-6350">
                        <a:lnSpc>
                          <a:spcPct val="107000"/>
                        </a:lnSpc>
                        <a:spcAft>
                          <a:spcPts val="25"/>
                        </a:spcAft>
                        <a:buNone/>
                      </a:pPr>
                      <a:r>
                        <a:rPr lang="en-IN" sz="1800" kern="100" dirty="0">
                          <a:effectLst/>
                        </a:rPr>
                        <a:t>ID </a:t>
                      </a:r>
                      <a:endParaRPr lang="en-IN" sz="18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865" marR="73025" marT="42545" marB="0"/>
                </a:tc>
                <a:tc>
                  <a:txBody>
                    <a:bodyPr/>
                    <a:lstStyle/>
                    <a:p>
                      <a:pPr marL="1905" marR="45085" indent="-6350">
                        <a:lnSpc>
                          <a:spcPct val="107000"/>
                        </a:lnSpc>
                        <a:spcAft>
                          <a:spcPts val="25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Integer </a:t>
                      </a:r>
                      <a:endParaRPr lang="en-IN" sz="18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865" marR="73025" marT="42545" marB="0"/>
                </a:tc>
                <a:extLst>
                  <a:ext uri="{0D108BD9-81ED-4DB2-BD59-A6C34878D82A}">
                    <a16:rowId xmlns:a16="http://schemas.microsoft.com/office/drawing/2014/main" val="2798791897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1270" marR="45085" indent="-6350">
                        <a:lnSpc>
                          <a:spcPct val="107000"/>
                        </a:lnSpc>
                        <a:spcAft>
                          <a:spcPts val="25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prog_lo_code </a:t>
                      </a:r>
                      <a:endParaRPr lang="en-IN" sz="18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865" marR="73025" marT="42545" marB="0"/>
                </a:tc>
                <a:tc>
                  <a:txBody>
                    <a:bodyPr/>
                    <a:lstStyle/>
                    <a:p>
                      <a:pPr marL="6350" marR="45085" indent="-6350">
                        <a:lnSpc>
                          <a:spcPct val="107000"/>
                        </a:lnSpc>
                        <a:spcAft>
                          <a:spcPts val="25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String </a:t>
                      </a:r>
                      <a:endParaRPr lang="en-IN" sz="18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865" marR="73025" marT="42545" marB="0"/>
                </a:tc>
                <a:extLst>
                  <a:ext uri="{0D108BD9-81ED-4DB2-BD59-A6C34878D82A}">
                    <a16:rowId xmlns:a16="http://schemas.microsoft.com/office/drawing/2014/main" val="107874497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1270" marR="45085" indent="-6350">
                        <a:lnSpc>
                          <a:spcPct val="107000"/>
                        </a:lnSpc>
                        <a:spcAft>
                          <a:spcPts val="25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prog_lo_no </a:t>
                      </a:r>
                      <a:endParaRPr lang="en-IN" sz="18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865" marR="73025" marT="42545" marB="0"/>
                </a:tc>
                <a:tc>
                  <a:txBody>
                    <a:bodyPr/>
                    <a:lstStyle/>
                    <a:p>
                      <a:pPr marL="635" marR="45085" indent="-6350">
                        <a:lnSpc>
                          <a:spcPct val="107000"/>
                        </a:lnSpc>
                        <a:spcAft>
                          <a:spcPts val="25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String </a:t>
                      </a:r>
                      <a:endParaRPr lang="en-IN" sz="18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865" marR="73025" marT="42545" marB="0"/>
                </a:tc>
                <a:extLst>
                  <a:ext uri="{0D108BD9-81ED-4DB2-BD59-A6C34878D82A}">
                    <a16:rowId xmlns:a16="http://schemas.microsoft.com/office/drawing/2014/main" val="3089360876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1270" marR="45085" indent="-6350">
                        <a:lnSpc>
                          <a:spcPct val="107000"/>
                        </a:lnSpc>
                        <a:spcAft>
                          <a:spcPts val="25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prog_lo_name </a:t>
                      </a:r>
                      <a:endParaRPr lang="en-IN" sz="18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865" marR="73025" marT="42545" marB="0"/>
                </a:tc>
                <a:tc>
                  <a:txBody>
                    <a:bodyPr/>
                    <a:lstStyle/>
                    <a:p>
                      <a:pPr marL="635" marR="45085" indent="-6350">
                        <a:lnSpc>
                          <a:spcPct val="107000"/>
                        </a:lnSpc>
                        <a:spcAft>
                          <a:spcPts val="25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String </a:t>
                      </a:r>
                      <a:endParaRPr lang="en-IN" sz="18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865" marR="73025" marT="42545" marB="0"/>
                </a:tc>
                <a:extLst>
                  <a:ext uri="{0D108BD9-81ED-4DB2-BD59-A6C34878D82A}">
                    <a16:rowId xmlns:a16="http://schemas.microsoft.com/office/drawing/2014/main" val="411288461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1270" marR="45085" indent="-6350">
                        <a:lnSpc>
                          <a:spcPct val="107000"/>
                        </a:lnSpc>
                        <a:spcAft>
                          <a:spcPts val="25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prog_lo_details </a:t>
                      </a:r>
                      <a:endParaRPr lang="en-IN" sz="18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865" marR="73025" marT="42545" marB="0"/>
                </a:tc>
                <a:tc>
                  <a:txBody>
                    <a:bodyPr/>
                    <a:lstStyle/>
                    <a:p>
                      <a:pPr marL="6350" marR="45085" indent="-6350">
                        <a:lnSpc>
                          <a:spcPct val="107000"/>
                        </a:lnSpc>
                        <a:spcAft>
                          <a:spcPts val="25"/>
                        </a:spcAft>
                        <a:buNone/>
                      </a:pPr>
                      <a:r>
                        <a:rPr lang="en-IN" sz="1800" kern="100" dirty="0">
                          <a:effectLst/>
                        </a:rPr>
                        <a:t>String </a:t>
                      </a:r>
                      <a:endParaRPr lang="en-IN" sz="18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865" marR="73025" marT="42545" marB="0"/>
                </a:tc>
                <a:extLst>
                  <a:ext uri="{0D108BD9-81ED-4DB2-BD59-A6C34878D82A}">
                    <a16:rowId xmlns:a16="http://schemas.microsoft.com/office/drawing/2014/main" val="395949968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University</a:t>
            </a:r>
            <a:r>
              <a:rPr spc="-55" dirty="0"/>
              <a:t> </a:t>
            </a:r>
            <a:r>
              <a:rPr dirty="0"/>
              <a:t>Setting:Programming</a:t>
            </a:r>
            <a:r>
              <a:rPr spc="-45" dirty="0"/>
              <a:t> </a:t>
            </a:r>
            <a:r>
              <a:rPr spc="-10" dirty="0"/>
              <a:t>Details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8" y="1175208"/>
            <a:ext cx="6230351" cy="2731517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20"/>
              </a:spcBef>
              <a:buChar char="●"/>
              <a:tabLst>
                <a:tab pos="379095" algn="l"/>
              </a:tabLst>
            </a:pPr>
            <a:r>
              <a:rPr sz="1800" b="1" dirty="0">
                <a:latin typeface="Arial" panose="020B0604020202020204" pitchFamily="34" charset="0"/>
                <a:cs typeface="Arial" panose="020B0604020202020204" pitchFamily="34" charset="0"/>
              </a:rPr>
              <a:t>File</a:t>
            </a:r>
            <a:r>
              <a:rPr sz="1800" b="1" spc="-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spc="-10" dirty="0">
                <a:latin typeface="Arial" panose="020B0604020202020204" pitchFamily="34" charset="0"/>
                <a:cs typeface="Arial" panose="020B0604020202020204" pitchFamily="34" charset="0"/>
              </a:rPr>
              <a:t>name</a:t>
            </a:r>
            <a:r>
              <a:rPr lang="en-IN" sz="1800" b="1" spc="-1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IN" sz="1800" b="1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: </a:t>
            </a:r>
            <a:r>
              <a:rPr lang="en-IN" sz="18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teamplo_program_level_objective_setting</a:t>
            </a:r>
          </a:p>
          <a:p>
            <a:pPr marL="12700">
              <a:lnSpc>
                <a:spcPct val="100000"/>
              </a:lnSpc>
              <a:spcBef>
                <a:spcPts val="420"/>
              </a:spcBef>
              <a:tabLst>
                <a:tab pos="379095" algn="l"/>
              </a:tabLst>
            </a:pPr>
            <a:endParaRPr lang="en-IN" sz="1800" kern="100" dirty="0">
              <a:solidFill>
                <a:srgbClr val="00000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379095" indent="-366395">
              <a:lnSpc>
                <a:spcPct val="100000"/>
              </a:lnSpc>
              <a:spcBef>
                <a:spcPts val="420"/>
              </a:spcBef>
              <a:buChar char="●"/>
              <a:tabLst>
                <a:tab pos="379095" algn="l"/>
              </a:tabLst>
            </a:pPr>
            <a:r>
              <a:rPr lang="en-IN" sz="18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sz="1800" b="1" spc="-10" dirty="0">
                <a:latin typeface="Arial" panose="020B0604020202020204" pitchFamily="34" charset="0"/>
                <a:cs typeface="Arial" panose="020B0604020202020204" pitchFamily="34" charset="0"/>
              </a:rPr>
              <a:t>Function/method</a:t>
            </a:r>
            <a:r>
              <a:rPr sz="1800" b="1" spc="-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spc="-20" dirty="0">
                <a:latin typeface="Arial" panose="020B0604020202020204" pitchFamily="34" charset="0"/>
                <a:cs typeface="Arial" panose="020B0604020202020204" pitchFamily="34" charset="0"/>
              </a:rPr>
              <a:t>name</a:t>
            </a:r>
            <a:endParaRPr lang="en-IN" sz="1800" b="1" spc="-2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50875" marR="29845" indent="-6350" algn="just">
              <a:spcAft>
                <a:spcPts val="640"/>
              </a:spcAft>
              <a:buNone/>
            </a:pPr>
            <a:r>
              <a:rPr lang="en-IN" sz="18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○ Create: TeamPLO_plo_create() 	</a:t>
            </a:r>
          </a:p>
          <a:p>
            <a:pPr marL="650875" marR="29845" indent="-6350" algn="just">
              <a:spcAft>
                <a:spcPts val="640"/>
              </a:spcAft>
              <a:buNone/>
            </a:pPr>
            <a:r>
              <a:rPr lang="en-IN" sz="18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○ Update: TeamPLO_plo_update() </a:t>
            </a:r>
          </a:p>
          <a:p>
            <a:pPr marL="650875" marR="29845" indent="-6350" algn="just">
              <a:spcAft>
                <a:spcPts val="640"/>
              </a:spcAft>
              <a:buNone/>
            </a:pPr>
            <a:r>
              <a:rPr lang="en-IN" sz="18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○ Retrieve: TeamPLO_plo_retrieve() 	</a:t>
            </a:r>
          </a:p>
          <a:p>
            <a:pPr marL="650875" marR="29845" indent="-6350" algn="just">
              <a:spcAft>
                <a:spcPts val="640"/>
              </a:spcAft>
              <a:buNone/>
            </a:pPr>
            <a:r>
              <a:rPr lang="en-IN" sz="18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○ Delete: TeamPLO_plo_delete() </a:t>
            </a:r>
          </a:p>
          <a:p>
            <a:pPr marL="379095" indent="-366395">
              <a:lnSpc>
                <a:spcPct val="100000"/>
              </a:lnSpc>
              <a:spcBef>
                <a:spcPts val="420"/>
              </a:spcBef>
              <a:buChar char="●"/>
              <a:tabLst>
                <a:tab pos="379095" algn="l"/>
              </a:tabLst>
            </a:pPr>
            <a:endParaRPr sz="1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400" y="285750"/>
            <a:ext cx="8374549" cy="997132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20"/>
              </a:spcBef>
            </a:pPr>
            <a:r>
              <a:rPr b="1" dirty="0"/>
              <a:t>Source</a:t>
            </a:r>
            <a:r>
              <a:rPr b="1" spc="10" dirty="0"/>
              <a:t> </a:t>
            </a:r>
            <a:r>
              <a:rPr b="1" dirty="0"/>
              <a:t>Code</a:t>
            </a:r>
            <a:br>
              <a:rPr lang="en-IN" b="1" dirty="0"/>
            </a:br>
            <a:r>
              <a:rPr lang="en-IN" sz="2000" dirty="0"/>
              <a:t>CREATE:</a:t>
            </a:r>
            <a:endParaRPr sz="13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BD0B33D-F292-F4B2-9D96-251169C24D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4950"/>
            <a:ext cx="9144000" cy="278508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9E8A0-536D-406E-CC4D-B4552629B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1996E3E-1135-ED8B-A0EA-21964A8C60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400" y="285750"/>
            <a:ext cx="8374549" cy="997132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20"/>
              </a:spcBef>
            </a:pPr>
            <a:r>
              <a:rPr b="1" dirty="0"/>
              <a:t>Source</a:t>
            </a:r>
            <a:r>
              <a:rPr b="1" spc="10" dirty="0"/>
              <a:t> </a:t>
            </a:r>
            <a:r>
              <a:rPr b="1" dirty="0"/>
              <a:t>Code</a:t>
            </a:r>
            <a:br>
              <a:rPr lang="en-IN" b="1" dirty="0"/>
            </a:br>
            <a:r>
              <a:rPr lang="en-IN" sz="2000" dirty="0"/>
              <a:t>RETRIEVE:</a:t>
            </a:r>
            <a:endParaRPr sz="13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15685C1-6507-767B-67DB-671F199AA8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" y="1428750"/>
            <a:ext cx="8610600" cy="3670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10888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AE5D6-E90D-33CA-2E62-948801DDF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0863E62-8061-4355-A258-AE997F01722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400" y="285750"/>
            <a:ext cx="8374549" cy="997132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20"/>
              </a:spcBef>
            </a:pPr>
            <a:r>
              <a:rPr b="1" dirty="0"/>
              <a:t>Source</a:t>
            </a:r>
            <a:r>
              <a:rPr b="1" spc="10" dirty="0"/>
              <a:t> </a:t>
            </a:r>
            <a:r>
              <a:rPr b="1" dirty="0"/>
              <a:t>Code</a:t>
            </a:r>
            <a:br>
              <a:rPr lang="en-IN" b="1" dirty="0"/>
            </a:br>
            <a:r>
              <a:rPr lang="en-IN" sz="2000" dirty="0"/>
              <a:t>UPDATE:</a:t>
            </a:r>
            <a:endParaRPr sz="13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4B2106-BDD8-73DB-41F4-FDE921999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57350"/>
            <a:ext cx="9144000" cy="2635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94452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4D70DF-5A38-B50A-E883-33FBD9D23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B73B3E6-5116-E6C1-289C-7E965B640F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400" y="285750"/>
            <a:ext cx="8374549" cy="997132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20"/>
              </a:spcBef>
            </a:pPr>
            <a:r>
              <a:rPr b="1" dirty="0"/>
              <a:t>Source</a:t>
            </a:r>
            <a:r>
              <a:rPr b="1" spc="10" dirty="0"/>
              <a:t> </a:t>
            </a:r>
            <a:r>
              <a:rPr b="1" dirty="0"/>
              <a:t>Code</a:t>
            </a:r>
            <a:br>
              <a:rPr lang="en-IN" b="1" dirty="0"/>
            </a:br>
            <a:r>
              <a:rPr lang="en-IN" sz="2000" dirty="0"/>
              <a:t>DELETE:</a:t>
            </a:r>
            <a:endParaRPr sz="13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A88A23-7C54-7CC4-B807-FEE73B57D2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494" y="1657350"/>
            <a:ext cx="8507012" cy="2419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452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BF9D84-06DB-2CA5-D65F-5BC9D885B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FC37CA8-F521-DE2E-E917-6C7021F83C6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400" y="285750"/>
            <a:ext cx="8374549" cy="997132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20"/>
              </a:spcBef>
            </a:pPr>
            <a:r>
              <a:rPr b="1" dirty="0"/>
              <a:t>S</a:t>
            </a:r>
            <a:r>
              <a:rPr lang="en-US" b="1" dirty="0"/>
              <a:t>CREEN SHOTS</a:t>
            </a:r>
            <a:br>
              <a:rPr lang="en-IN" b="1" dirty="0"/>
            </a:br>
            <a:r>
              <a:rPr lang="en-IN" sz="2000" dirty="0"/>
              <a:t>RETRIEVE:</a:t>
            </a:r>
            <a:endParaRPr sz="13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A4DD4DB-AE82-A746-38E3-BB4229DE13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4222" y="1282882"/>
            <a:ext cx="5075555" cy="3588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6917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7632D4-CD4D-62D0-824E-C3D58AE2D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DBAAB9E-06EC-F5FA-AB1C-AE02E202C5F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400" y="285750"/>
            <a:ext cx="8374549" cy="997132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20"/>
              </a:spcBef>
            </a:pPr>
            <a:r>
              <a:rPr b="1" dirty="0"/>
              <a:t>S</a:t>
            </a:r>
            <a:r>
              <a:rPr lang="en-US" b="1" dirty="0"/>
              <a:t>CREEN SHOTS</a:t>
            </a:r>
            <a:br>
              <a:rPr lang="en-IN" b="1" dirty="0"/>
            </a:br>
            <a:r>
              <a:rPr lang="en-IN" sz="2000" dirty="0"/>
              <a:t>CREATE:</a:t>
            </a:r>
            <a:endParaRPr sz="13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D79C07-DF6A-C688-55ED-88413FABA4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4727" y="1282882"/>
            <a:ext cx="5114546" cy="363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07872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E2184-1F47-0549-2E9D-7C7A31AB6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1958735-03B9-E8BA-4196-2DAF523609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400" y="285750"/>
            <a:ext cx="8374549" cy="997132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20"/>
              </a:spcBef>
            </a:pPr>
            <a:r>
              <a:rPr b="1" dirty="0"/>
              <a:t>S</a:t>
            </a:r>
            <a:r>
              <a:rPr lang="en-US" b="1" dirty="0"/>
              <a:t>CREEN SHOTS</a:t>
            </a:r>
            <a:br>
              <a:rPr lang="en-IN" b="1" dirty="0"/>
            </a:br>
            <a:r>
              <a:rPr lang="en-IN" sz="2000" dirty="0"/>
              <a:t>UPDATE:</a:t>
            </a:r>
            <a:endParaRPr sz="13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0F9F7D4-8C14-7AD9-8160-1F5A232F7E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3268" y="1200150"/>
            <a:ext cx="5357463" cy="3753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5165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2422A-B11F-FC55-A4A3-C12DEC2A2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25FD9D9-C557-1862-E689-2975B1DBA74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400" y="285750"/>
            <a:ext cx="8374549" cy="997132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20"/>
              </a:spcBef>
            </a:pPr>
            <a:r>
              <a:rPr b="1" dirty="0"/>
              <a:t>S</a:t>
            </a:r>
            <a:r>
              <a:rPr lang="en-US" b="1" dirty="0"/>
              <a:t>CREEN SHOTS</a:t>
            </a:r>
            <a:br>
              <a:rPr lang="en-IN" b="1" dirty="0"/>
            </a:br>
            <a:r>
              <a:rPr lang="en-IN" sz="2000" dirty="0"/>
              <a:t>DELETE:</a:t>
            </a:r>
            <a:endParaRPr sz="13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243175-697E-6563-F260-FBA4E2C702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6900" y="1123950"/>
            <a:ext cx="5410200" cy="3822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12514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5248"/>
            <a:ext cx="8374549" cy="7848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IN" spc="-10" dirty="0"/>
              <a:t>Conclusion</a:t>
            </a:r>
            <a:br>
              <a:rPr lang="en-IN" spc="-10" dirty="0"/>
            </a:br>
            <a:endParaRPr lang="en-IN" spc="-1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6F25C04-BACC-A2B8-FF66-AFEDCB691E2C}"/>
              </a:ext>
            </a:extLst>
          </p:cNvPr>
          <p:cNvSpPr txBox="1"/>
          <p:nvPr/>
        </p:nvSpPr>
        <p:spPr>
          <a:xfrm>
            <a:off x="372368" y="1123950"/>
            <a:ext cx="7540075" cy="20751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350" marR="45085" indent="-6350" algn="just">
              <a:lnSpc>
                <a:spcPct val="99000"/>
              </a:lnSpc>
              <a:spcAft>
                <a:spcPts val="25"/>
              </a:spcAft>
              <a:buNone/>
            </a:pPr>
            <a:r>
              <a:rPr lang="en-I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Program Level Objective Setting module provides a simple and effective way to manage program objectives using Java and SQLite. It supports all basic CRUD operations and helps in organizing OBE-related data efficiently. This project enhanced our understanding of Java GUI development and database handling, contributing to the OBE initiative at SRM University </a:t>
            </a:r>
          </a:p>
          <a:p>
            <a:pPr marL="6350" marR="45085" indent="-6350">
              <a:lnSpc>
                <a:spcPct val="115000"/>
              </a:lnSpc>
              <a:spcAft>
                <a:spcPts val="800"/>
              </a:spcAft>
            </a:pPr>
            <a:br>
              <a:rPr lang="en-I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I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85552" y="2366962"/>
            <a:ext cx="1572895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t>Thank</a:t>
            </a:r>
            <a:r>
              <a:rPr lang="en-IN" dirty="0"/>
              <a:t> </a:t>
            </a:r>
            <a:r>
              <a:rPr spc="-25" dirty="0"/>
              <a:t>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119</TotalTime>
  <Words>522</Words>
  <Application>Microsoft Office PowerPoint</Application>
  <PresentationFormat>On-screen Show (16:9)</PresentationFormat>
  <Paragraphs>62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Arial MT</vt:lpstr>
      <vt:lpstr>Calibri</vt:lpstr>
      <vt:lpstr>Times New Roman</vt:lpstr>
      <vt:lpstr>Office Theme</vt:lpstr>
      <vt:lpstr>OBE Implementation</vt:lpstr>
      <vt:lpstr>Introduction to Project</vt:lpstr>
      <vt:lpstr>Architecture Diagram</vt:lpstr>
      <vt:lpstr>Module Description : Program Level Objective (PLO) Setting Module </vt:lpstr>
      <vt:lpstr>Program Level Objective (PLO) Setting Module :Field/table details</vt:lpstr>
      <vt:lpstr>University Setting:Programming Details</vt:lpstr>
      <vt:lpstr>Source Code CREATE:</vt:lpstr>
      <vt:lpstr>Source Code RETRIEVE:</vt:lpstr>
      <vt:lpstr>Source Code UPDATE:</vt:lpstr>
      <vt:lpstr>Source Code DELETE:</vt:lpstr>
      <vt:lpstr>SCREEN SHOTS RETRIEVE:</vt:lpstr>
      <vt:lpstr>SCREEN SHOTS CREATE:</vt:lpstr>
      <vt:lpstr>SCREEN SHOTS UPDATE:</vt:lpstr>
      <vt:lpstr>SCREEN SHOTS DELETE:</vt:lpstr>
      <vt:lpstr>Conclusion 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Nikhil Sireesh</dc:creator>
  <cp:lastModifiedBy>Shaik Mohiddin</cp:lastModifiedBy>
  <cp:revision>5</cp:revision>
  <dcterms:created xsi:type="dcterms:W3CDTF">2025-04-14T12:16:28Z</dcterms:created>
  <dcterms:modified xsi:type="dcterms:W3CDTF">2025-04-15T09:25:40Z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2025-04-14T00:00:00Z</vt:filetime>
  </property>
  <property fmtid="{D5CDD505-2E9C-101B-9397-08002B2CF9AE}" pid="3" name="Creator">
    <vt:lpwstr>Google</vt:lpwstr>
  </property>
  <property fmtid="{D5CDD505-2E9C-101B-9397-08002B2CF9AE}" pid="4" name="LastSaved">
    <vt:filetime>2025-04-14T00:00:00Z</vt:filetime>
  </property>
</Properties>
</file>